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4FAF68-74AD-4623-8796-CA846664B69A}" v="74" dt="2026-01-14T12:35:2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rsh Gupta" userId="2c3faeeca5b225ec" providerId="LiveId" clId="{E651CB7C-9B7F-4546-965E-6915248E06D1}"/>
    <pc:docChg chg="modSld">
      <pc:chgData name="Adarsh Gupta" userId="2c3faeeca5b225ec" providerId="LiveId" clId="{E651CB7C-9B7F-4546-965E-6915248E06D1}" dt="2026-01-14T12:35:21.312" v="70" actId="207"/>
      <pc:docMkLst>
        <pc:docMk/>
      </pc:docMkLst>
      <pc:sldChg chg="modSp setBg modAnim">
        <pc:chgData name="Adarsh Gupta" userId="2c3faeeca5b225ec" providerId="LiveId" clId="{E651CB7C-9B7F-4546-965E-6915248E06D1}" dt="2026-01-14T12:35:21.312" v="70" actId="207"/>
        <pc:sldMkLst>
          <pc:docMk/>
          <pc:sldMk cId="1505466399" sldId="256"/>
        </pc:sldMkLst>
        <pc:spChg chg="mod">
          <ac:chgData name="Adarsh Gupta" userId="2c3faeeca5b225ec" providerId="LiveId" clId="{E651CB7C-9B7F-4546-965E-6915248E06D1}" dt="2026-01-14T12:35:21.312" v="70" actId="207"/>
          <ac:spMkLst>
            <pc:docMk/>
            <pc:sldMk cId="1505466399" sldId="256"/>
            <ac:spMk id="2" creationId="{180A8B24-E877-4843-C5E2-5DFB692F36D6}"/>
          </ac:spMkLst>
        </pc:spChg>
      </pc:sldChg>
      <pc:sldChg chg="modSp setBg modAnim">
        <pc:chgData name="Adarsh Gupta" userId="2c3faeeca5b225ec" providerId="LiveId" clId="{E651CB7C-9B7F-4546-965E-6915248E06D1}" dt="2026-01-14T12:34:42.798" v="65" actId="207"/>
        <pc:sldMkLst>
          <pc:docMk/>
          <pc:sldMk cId="1299881667" sldId="257"/>
        </pc:sldMkLst>
        <pc:spChg chg="mod">
          <ac:chgData name="Adarsh Gupta" userId="2c3faeeca5b225ec" providerId="LiveId" clId="{E651CB7C-9B7F-4546-965E-6915248E06D1}" dt="2026-01-14T12:34:42.798" v="65" actId="207"/>
          <ac:spMkLst>
            <pc:docMk/>
            <pc:sldMk cId="1299881667" sldId="257"/>
            <ac:spMk id="2" creationId="{BF6B116F-4C08-A7CA-938F-C4A12FD9D7D9}"/>
          </ac:spMkLst>
        </pc:spChg>
      </pc:sldChg>
      <pc:sldChg chg="modSp setBg modAnim">
        <pc:chgData name="Adarsh Gupta" userId="2c3faeeca5b225ec" providerId="LiveId" clId="{E651CB7C-9B7F-4546-965E-6915248E06D1}" dt="2026-01-14T12:34:49.002" v="66" actId="207"/>
        <pc:sldMkLst>
          <pc:docMk/>
          <pc:sldMk cId="3718994052" sldId="258"/>
        </pc:sldMkLst>
        <pc:spChg chg="mod">
          <ac:chgData name="Adarsh Gupta" userId="2c3faeeca5b225ec" providerId="LiveId" clId="{E651CB7C-9B7F-4546-965E-6915248E06D1}" dt="2026-01-14T12:34:49.002" v="66" actId="207"/>
          <ac:spMkLst>
            <pc:docMk/>
            <pc:sldMk cId="3718994052" sldId="258"/>
            <ac:spMk id="2" creationId="{6BA45E58-F7B1-959D-4D0B-04E2919309E8}"/>
          </ac:spMkLst>
        </pc:spChg>
      </pc:sldChg>
      <pc:sldChg chg="modSp setBg modAnim">
        <pc:chgData name="Adarsh Gupta" userId="2c3faeeca5b225ec" providerId="LiveId" clId="{E651CB7C-9B7F-4546-965E-6915248E06D1}" dt="2026-01-14T12:34:56.621" v="67" actId="207"/>
        <pc:sldMkLst>
          <pc:docMk/>
          <pc:sldMk cId="821241383" sldId="259"/>
        </pc:sldMkLst>
        <pc:spChg chg="mod">
          <ac:chgData name="Adarsh Gupta" userId="2c3faeeca5b225ec" providerId="LiveId" clId="{E651CB7C-9B7F-4546-965E-6915248E06D1}" dt="2026-01-14T12:34:56.621" v="67" actId="207"/>
          <ac:spMkLst>
            <pc:docMk/>
            <pc:sldMk cId="821241383" sldId="259"/>
            <ac:spMk id="2" creationId="{19EF8B4A-C60F-6A71-FA6E-D56F35D7E974}"/>
          </ac:spMkLst>
        </pc:spChg>
      </pc:sldChg>
      <pc:sldChg chg="modSp setBg modAnim">
        <pc:chgData name="Adarsh Gupta" userId="2c3faeeca5b225ec" providerId="LiveId" clId="{E651CB7C-9B7F-4546-965E-6915248E06D1}" dt="2026-01-14T12:35:03" v="68" actId="207"/>
        <pc:sldMkLst>
          <pc:docMk/>
          <pc:sldMk cId="2278325937" sldId="260"/>
        </pc:sldMkLst>
        <pc:spChg chg="mod">
          <ac:chgData name="Adarsh Gupta" userId="2c3faeeca5b225ec" providerId="LiveId" clId="{E651CB7C-9B7F-4546-965E-6915248E06D1}" dt="2026-01-14T12:35:03" v="68" actId="207"/>
          <ac:spMkLst>
            <pc:docMk/>
            <pc:sldMk cId="2278325937" sldId="260"/>
            <ac:spMk id="2" creationId="{AF4FFEA4-379B-086C-36F2-B913630D744F}"/>
          </ac:spMkLst>
        </pc:spChg>
      </pc:sldChg>
      <pc:sldChg chg="modSp setBg modAnim">
        <pc:chgData name="Adarsh Gupta" userId="2c3faeeca5b225ec" providerId="LiveId" clId="{E651CB7C-9B7F-4546-965E-6915248E06D1}" dt="2026-01-14T12:35:12.707" v="69" actId="207"/>
        <pc:sldMkLst>
          <pc:docMk/>
          <pc:sldMk cId="53988448" sldId="261"/>
        </pc:sldMkLst>
        <pc:spChg chg="mod">
          <ac:chgData name="Adarsh Gupta" userId="2c3faeeca5b225ec" providerId="LiveId" clId="{E651CB7C-9B7F-4546-965E-6915248E06D1}" dt="2026-01-14T12:35:12.707" v="69" actId="207"/>
          <ac:spMkLst>
            <pc:docMk/>
            <pc:sldMk cId="53988448" sldId="261"/>
            <ac:spMk id="2" creationId="{02A4C65D-264D-4E42-260C-BA7C7AED81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C2A5-337E-850B-2BDD-4520F7698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76030-23C8-7B67-83B1-398FCA76C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EC8FA-8CF4-CA41-C47F-5418FC301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534C2-9E1D-4753-BB7F-839FD33AEB5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917CD-AEAE-70C4-8F4E-F8AF3EE4D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A8A19-4630-BC95-F023-D60BD2306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65F-87DB-4434-AF35-C003E01D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746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78EF0-02CE-E961-C881-0C432B9E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745EA-1CEE-5629-899F-B8618E8CA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4496D-4C94-66B0-2809-17B812CB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534C2-9E1D-4753-BB7F-839FD33AEB5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AA649-C2DC-8AD2-F670-D80283539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A45C7-5986-E696-3F19-1B5C73D3A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65F-87DB-4434-AF35-C003E01D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97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A44F-DA30-3536-F202-1D7F2973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8F4E1-7478-F077-9DD3-28640E5C3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23D98-40E0-67F2-EA13-E0F436E36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534C2-9E1D-4753-BB7F-839FD33AEB5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3A8A7-33FE-BECD-F7F1-4E1C68840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3D58B-D98E-B2AA-6B15-E9413861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65F-87DB-4434-AF35-C003E01D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423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C0D3B-15DD-FD90-A4F5-91F6B4F8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E9D98-DC9B-43EE-D906-70091A242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AFFE8-D830-8598-6A81-7C5D77C8C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FB08B-543E-8474-E071-A58AF9FD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534C2-9E1D-4753-BB7F-839FD33AEB5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D7764-D7ED-CCCD-B41D-95DD1125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E922D-22E0-D6F5-D1C4-8DEB67BEE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65F-87DB-4434-AF35-C003E01D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8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2FB6-63C4-0F59-CE7C-AA4DC355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C4856-E0FB-66B5-D221-E9A924AEB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2D3B5-217C-1E07-8BC2-76E973FB9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5169D-B4F6-5AEF-AFCD-8836806A6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693CC5-7D71-1363-30CA-C3F79990D7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DA5940-D0CF-A4EA-3324-59BCE67C6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534C2-9E1D-4753-BB7F-839FD33AEB5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77CAC-9B65-F1E3-D623-DB015F01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BE8A04-BE1F-1DD3-A2A7-90C637F5A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65F-87DB-4434-AF35-C003E01D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4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7E6B6-2356-BC2C-8650-70249433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F04DF0-506B-3D08-800A-798E4517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534C2-9E1D-4753-BB7F-839FD33AEB5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001B9-1787-686B-FFAC-D2C67700C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B4CF0-1E8C-3541-6DE0-D6067D039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65F-87DB-4434-AF35-C003E01D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33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279A5-7429-BD46-E151-C3F44AF2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534C2-9E1D-4753-BB7F-839FD33AEB5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973A68-6AFA-7D57-CF47-9298DFBF3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EFF59-5F76-57A4-C6B6-D87832F3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65F-87DB-4434-AF35-C003E01D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57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32A2-FF18-7487-F1A3-509105FB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E9FBE-2F5C-7B2F-8F8E-D46BAEF9E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D7D22-A1A3-0F03-CEA1-A6D6BFBDF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D0BE9-3D2F-BA39-3134-7F77609DB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534C2-9E1D-4753-BB7F-839FD33AEB5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490AD-5884-BE48-9637-82841AFD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2A7BC-E8B1-4E7B-4F71-35F42A02A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65F-87DB-4434-AF35-C003E01D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03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B6C71-76D3-CD10-DB26-A376FF5C6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F993A-412C-0F94-E6E9-658B7F518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4B40A-0EEE-53EB-A9E0-560086D54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95A16-AF85-A244-32A4-B9A7678E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534C2-9E1D-4753-BB7F-839FD33AEB5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89126-58AB-D8DA-7DC1-FA83AB3E0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C9B80-E87B-B9AB-1FB6-02C856D8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65F-87DB-4434-AF35-C003E01D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79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6B081-9795-667B-69B9-A9FAD60B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8FECF-EAE6-F26F-2991-C064AC006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4F572-94E7-0599-C236-BA6130339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534C2-9E1D-4753-BB7F-839FD33AEB5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3D99D-363B-3E60-DC27-333AC853B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7B75E-CA49-C817-DA0B-3D3A1745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65F-87DB-4434-AF35-C003E01D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030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575DB-A00D-EC40-9A82-7056263945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2213F-4C19-143F-E306-09F1B8047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E5827-6FF7-9C5F-2855-71D8E5CE4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534C2-9E1D-4753-BB7F-839FD33AEB5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3EB83-03AB-2FB9-1E0F-540A8811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173D5-5ECA-6F31-2B38-5B33B857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65F-87DB-4434-AF35-C003E01D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995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8B7CF-282C-B2B5-DD5F-8F08E959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CD9DB-4861-6738-A391-8ABFD0889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BF72F-B009-08D4-634E-98FE469E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534C2-9E1D-4753-BB7F-839FD33AEB5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E1E21-4FB9-E22D-575B-E56B40579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90498-10C6-8A87-FC2F-36AD1AA30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A565F-87DB-4434-AF35-C003E01DE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162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8B24-E877-4843-C5E2-5DFB692F3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413061"/>
          </a:xfrm>
        </p:spPr>
        <p:txBody>
          <a:bodyPr/>
          <a:lstStyle/>
          <a:p>
            <a:r>
              <a:rPr lang="en-US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LOAN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551A4-2D7C-A930-BC71-6AB009CB4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524000" y="3556319"/>
            <a:ext cx="9144000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46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B116F-4C08-A7CA-938F-C4A12FD9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872"/>
            <a:ext cx="10515600" cy="2167763"/>
          </a:xfrm>
        </p:spPr>
        <p:txBody>
          <a:bodyPr>
            <a:noAutofit/>
          </a:bodyPr>
          <a:lstStyle/>
          <a:p>
            <a:pPr algn="ctr"/>
            <a:r>
              <a:rPr lang="en-IN" sz="36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1: SUMMARY</a:t>
            </a:r>
            <a:b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 Requirements: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FF727-458A-56D8-0CB7-1F790F6AC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799"/>
            <a:ext cx="10515600" cy="4846321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Total Loan Applications: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Total Funded Amount: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Total Amount Received: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Average Interest Rate: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Average Debt-to-Income Ratio (DTI):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88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5E58-F7B1-959D-4D0B-04E291930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499616"/>
          </a:xfrm>
        </p:spPr>
        <p:txBody>
          <a:bodyPr>
            <a:noAutofit/>
          </a:bodyPr>
          <a:lstStyle/>
          <a:p>
            <a:pPr algn="ctr"/>
            <a:r>
              <a:rPr lang="en-IN" sz="36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sz="36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1 : SUMMARY</a:t>
            </a:r>
            <a:b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Loan v Bad Loan KPI’s</a:t>
            </a:r>
            <a:endParaRPr lang="en-IN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78A73-FC03-D101-4F28-A29B159F5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1"/>
            <a:ext cx="10515600" cy="5294376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Loan: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Loan Application Percentage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Loan Applications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Loan Funded Amount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Loan Total Received Amount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Loan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Loan Application Percentage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Loan Applications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Loan Funded Amount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Loan Total Received Amount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Status Grid 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'Loan Status.'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providing insights into metrics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'Total Loan Applications,' 'Total Funded Amount,' 'Total Amount Received,' 'Month-to-Date (MTD) Funded Amount,' 'MTD Amount Received,' 'Average Interest Rate,'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'Average Debt-to-Income Ratio (DTI),'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grid view will empower us to make data-driven decisions and assess the health of our loan portfolio.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99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8B4A-C60F-6A71-FA6E-D56F35D7E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221284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2: OVERVIEW</a:t>
            </a:r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94C32-CC3F-92D1-9CB1-3D1D0F4DD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6776"/>
            <a:ext cx="10515600" cy="4983479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b="1" dirty="0"/>
              <a:t>Monthly Trends by Issue Date (Line Chart):</a:t>
            </a:r>
            <a:br>
              <a:rPr lang="en-IN" dirty="0"/>
            </a:br>
            <a:r>
              <a:rPr lang="en-IN" dirty="0"/>
              <a:t>To identify seasonality and long-term trends in lending activities</a:t>
            </a:r>
          </a:p>
          <a:p>
            <a:pPr lvl="0"/>
            <a:r>
              <a:rPr lang="en-IN" b="1" dirty="0"/>
              <a:t>Regional Analysis by State (Filled Map):</a:t>
            </a:r>
            <a:br>
              <a:rPr lang="en-IN" dirty="0"/>
            </a:br>
            <a:r>
              <a:rPr lang="en-IN" dirty="0"/>
              <a:t>To identify regions with significant lending activity and assess regional disparities</a:t>
            </a:r>
          </a:p>
          <a:p>
            <a:pPr lvl="0"/>
            <a:r>
              <a:rPr lang="en-IN" b="1" dirty="0"/>
              <a:t>Loan Term Analysis (Donut Chart):</a:t>
            </a:r>
            <a:br>
              <a:rPr lang="en-IN" dirty="0"/>
            </a:br>
            <a:r>
              <a:rPr lang="en-IN" dirty="0"/>
              <a:t>To allow the client to understand the distribution of loans across various term lengths.</a:t>
            </a:r>
          </a:p>
          <a:p>
            <a:pPr lvl="0"/>
            <a:r>
              <a:rPr lang="en-IN" b="1" dirty="0"/>
              <a:t>Employee Length Analysis (Bar Chart):</a:t>
            </a:r>
            <a:br>
              <a:rPr lang="en-IN" dirty="0"/>
            </a:br>
            <a:r>
              <a:rPr lang="en-IN" dirty="0"/>
              <a:t>How lending metrics are distributed among borrowers with different employment lengths, helping us assess the impact of employment history on loan applications.</a:t>
            </a:r>
          </a:p>
          <a:p>
            <a:pPr lvl="0"/>
            <a:r>
              <a:rPr lang="en-IN" b="1" dirty="0"/>
              <a:t>Loan Purpose Breakdown (Bar Chart):</a:t>
            </a:r>
            <a:br>
              <a:rPr lang="en-IN" dirty="0"/>
            </a:br>
            <a:r>
              <a:rPr lang="en-IN" dirty="0"/>
              <a:t>Will provide a visual breakdown of loan metrics based on the stated purposes of loans, aiding in the understanding of the primary reasons borrowers seek financing.</a:t>
            </a:r>
          </a:p>
          <a:p>
            <a:pPr lvl="0"/>
            <a:r>
              <a:rPr lang="en-IN" b="1" dirty="0"/>
              <a:t>Home Ownership Analysis (Tree Map):</a:t>
            </a:r>
            <a:br>
              <a:rPr lang="en-IN" b="1" dirty="0"/>
            </a:br>
            <a:r>
              <a:rPr lang="en-IN" dirty="0"/>
              <a:t>For a hierarchical view of how home ownership impacts loan applications and disbursements.</a:t>
            </a:r>
          </a:p>
          <a:p>
            <a:r>
              <a:rPr lang="en-IN" b="1" dirty="0"/>
              <a:t>Metrics to be shown:</a:t>
            </a:r>
            <a:br>
              <a:rPr lang="en-IN" b="1" dirty="0"/>
            </a:br>
            <a:r>
              <a:rPr lang="en-IN" dirty="0"/>
              <a:t>'Total Loan Applications,' 'Total Funded Amount,' and 'Total Amount Received'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24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FFEA4-379B-086C-36F2-B913630D7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48" y="-1646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3: DETAILS</a:t>
            </a:r>
            <a:endParaRPr lang="en-IN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1A0CF-F2E6-0570-9DA8-CB6586EBA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8992"/>
            <a:ext cx="10515600" cy="5097971"/>
          </a:xfrm>
        </p:spPr>
        <p:txBody>
          <a:bodyPr>
            <a:norm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32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4C65D-264D-4E42-260C-BA7C7AED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3543"/>
            <a:ext cx="10515600" cy="2350007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 WE WILL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E7787-ED6E-DC9F-404C-BFAD83954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664"/>
            <a:ext cx="3322320" cy="5582603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SQL – MY SQL SERVER                                             </a:t>
            </a:r>
          </a:p>
          <a:p>
            <a:pPr marL="0" indent="0">
              <a:buNone/>
            </a:pPr>
            <a:r>
              <a:rPr lang="en-IN" dirty="0"/>
              <a:t>✓ Creating Database</a:t>
            </a:r>
            <a:br>
              <a:rPr lang="en-IN" dirty="0"/>
            </a:br>
            <a:r>
              <a:rPr lang="en-IN" dirty="0"/>
              <a:t>✓ Creating Table</a:t>
            </a:r>
            <a:br>
              <a:rPr lang="en-IN" dirty="0"/>
            </a:br>
            <a:r>
              <a:rPr lang="en-IN" dirty="0"/>
              <a:t>✓ Select</a:t>
            </a:r>
            <a:br>
              <a:rPr lang="en-IN" dirty="0"/>
            </a:br>
            <a:r>
              <a:rPr lang="en-IN" dirty="0"/>
              <a:t>✓ Datename</a:t>
            </a:r>
            <a:br>
              <a:rPr lang="en-IN" dirty="0"/>
            </a:br>
            <a:r>
              <a:rPr lang="en-IN" dirty="0"/>
              <a:t>✓ Datepart</a:t>
            </a:r>
            <a:br>
              <a:rPr lang="en-IN" dirty="0"/>
            </a:br>
            <a:r>
              <a:rPr lang="en-IN" dirty="0"/>
              <a:t>✓ Cast</a:t>
            </a:r>
            <a:br>
              <a:rPr lang="en-IN" dirty="0"/>
            </a:br>
            <a:r>
              <a:rPr lang="en-IN" dirty="0"/>
              <a:t>✓ Decimal</a:t>
            </a:r>
            <a:br>
              <a:rPr lang="en-IN" dirty="0"/>
            </a:br>
            <a:r>
              <a:rPr lang="en-IN" dirty="0"/>
              <a:t>✓ Month</a:t>
            </a:r>
            <a:br>
              <a:rPr lang="en-IN" dirty="0"/>
            </a:br>
            <a:r>
              <a:rPr lang="en-IN" dirty="0"/>
              <a:t>✓ Hour</a:t>
            </a:r>
            <a:br>
              <a:rPr lang="en-IN" dirty="0"/>
            </a:br>
            <a:r>
              <a:rPr lang="en-IN" dirty="0"/>
              <a:t>✓ Quarter</a:t>
            </a:r>
            <a:br>
              <a:rPr lang="en-IN" dirty="0"/>
            </a:br>
            <a:r>
              <a:rPr lang="en-IN" dirty="0"/>
              <a:t>✓ Day</a:t>
            </a:r>
            <a:br>
              <a:rPr lang="en-IN" dirty="0"/>
            </a:br>
            <a:r>
              <a:rPr lang="en-IN" dirty="0"/>
              <a:t>✓ Group by</a:t>
            </a:r>
            <a:br>
              <a:rPr lang="en-IN" dirty="0"/>
            </a:br>
            <a:r>
              <a:rPr lang="en-IN" dirty="0"/>
              <a:t>✓ Order by</a:t>
            </a:r>
            <a:br>
              <a:rPr lang="en-IN" dirty="0"/>
            </a:br>
            <a:r>
              <a:rPr lang="en-IN" dirty="0"/>
              <a:t>✓ Decimal</a:t>
            </a:r>
            <a:br>
              <a:rPr lang="en-IN" dirty="0"/>
            </a:br>
            <a:r>
              <a:rPr lang="en-IN" dirty="0"/>
              <a:t>✓ Limit</a:t>
            </a:r>
            <a:br>
              <a:rPr lang="en-IN" dirty="0"/>
            </a:br>
            <a:r>
              <a:rPr lang="en-IN" dirty="0"/>
              <a:t>✓ Count</a:t>
            </a:r>
            <a:br>
              <a:rPr lang="en-IN" dirty="0"/>
            </a:br>
            <a:r>
              <a:rPr lang="en-IN" dirty="0"/>
              <a:t>✓ Distinct</a:t>
            </a:r>
            <a:br>
              <a:rPr lang="en-IN" dirty="0"/>
            </a:br>
            <a:r>
              <a:rPr lang="en-IN" dirty="0"/>
              <a:t>✓ CTE</a:t>
            </a:r>
            <a:br>
              <a:rPr lang="en-IN" dirty="0"/>
            </a:br>
            <a:r>
              <a:rPr lang="en-IN" dirty="0"/>
              <a:t>✓ Partition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CB915-89F8-876F-1125-971D9F520F76}"/>
              </a:ext>
            </a:extLst>
          </p:cNvPr>
          <p:cNvSpPr txBox="1"/>
          <p:nvPr/>
        </p:nvSpPr>
        <p:spPr>
          <a:xfrm>
            <a:off x="6163056" y="557784"/>
            <a:ext cx="484632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POWER BI</a:t>
            </a:r>
          </a:p>
          <a:p>
            <a:r>
              <a:rPr lang="en-IN" sz="2000" dirty="0"/>
              <a:t>✓ Connecting to SQL Server</a:t>
            </a:r>
            <a:br>
              <a:rPr lang="en-IN" sz="2000" dirty="0"/>
            </a:br>
            <a:r>
              <a:rPr lang="en-IN" sz="2000" dirty="0"/>
              <a:t>✓ Data Cleaning</a:t>
            </a:r>
            <a:br>
              <a:rPr lang="en-IN" sz="2000" dirty="0"/>
            </a:br>
            <a:r>
              <a:rPr lang="en-IN" sz="2000" dirty="0"/>
              <a:t>✓ Data Modelling</a:t>
            </a:r>
            <a:br>
              <a:rPr lang="en-IN" sz="2000" dirty="0"/>
            </a:br>
            <a:r>
              <a:rPr lang="en-IN" sz="2000" dirty="0"/>
              <a:t>✓ Data Processing</a:t>
            </a:r>
            <a:br>
              <a:rPr lang="en-IN" sz="2000" dirty="0"/>
            </a:br>
            <a:r>
              <a:rPr lang="en-IN" sz="2000" dirty="0"/>
              <a:t>✓ Power Query</a:t>
            </a:r>
            <a:br>
              <a:rPr lang="en-IN" sz="2000" dirty="0"/>
            </a:br>
            <a:r>
              <a:rPr lang="en-IN" sz="2000" dirty="0"/>
              <a:t>✓ Date Tables</a:t>
            </a:r>
            <a:br>
              <a:rPr lang="en-IN" sz="2000" dirty="0"/>
            </a:br>
            <a:r>
              <a:rPr lang="en-IN" sz="2000" dirty="0"/>
              <a:t>✓ Time Intelligence Func</a:t>
            </a:r>
            <a:br>
              <a:rPr lang="en-IN" sz="2000" dirty="0"/>
            </a:br>
            <a:r>
              <a:rPr lang="en-IN" sz="2000" dirty="0"/>
              <a:t>✓ DAX</a:t>
            </a:r>
            <a:br>
              <a:rPr lang="en-IN" sz="2000" dirty="0"/>
            </a:br>
            <a:r>
              <a:rPr lang="en-IN" sz="2000" dirty="0"/>
              <a:t>✓ Date Function</a:t>
            </a:r>
            <a:br>
              <a:rPr lang="en-IN" sz="2000" dirty="0"/>
            </a:br>
            <a:r>
              <a:rPr lang="en-IN" sz="2000" dirty="0"/>
              <a:t>✓ Text Function</a:t>
            </a:r>
            <a:br>
              <a:rPr lang="en-IN" sz="2000" dirty="0"/>
            </a:br>
            <a:r>
              <a:rPr lang="en-IN" sz="2000" dirty="0"/>
              <a:t>✓ Filter Function</a:t>
            </a:r>
            <a:br>
              <a:rPr lang="en-IN" sz="2000" dirty="0"/>
            </a:br>
            <a:r>
              <a:rPr lang="en-IN" sz="2000" dirty="0"/>
              <a:t>✓ Calculate</a:t>
            </a:r>
            <a:br>
              <a:rPr lang="en-IN" sz="2000" dirty="0"/>
            </a:br>
            <a:r>
              <a:rPr lang="en-IN" sz="2000" dirty="0"/>
              <a:t>✓ SUM / SUMX</a:t>
            </a:r>
            <a:br>
              <a:rPr lang="en-IN" sz="2000" dirty="0"/>
            </a:br>
            <a:r>
              <a:rPr lang="en-IN" sz="2000" dirty="0"/>
              <a:t>✓ Creating KPI’s</a:t>
            </a:r>
            <a:br>
              <a:rPr lang="en-IN" sz="2000" dirty="0"/>
            </a:br>
            <a:r>
              <a:rPr lang="en-IN" sz="2000" dirty="0"/>
              <a:t>✓ New Card Visual</a:t>
            </a:r>
            <a:br>
              <a:rPr lang="en-IN" sz="2000" dirty="0"/>
            </a:br>
            <a:r>
              <a:rPr lang="en-IN" sz="2000" dirty="0"/>
              <a:t>✓ Creating Charts</a:t>
            </a:r>
            <a:br>
              <a:rPr lang="en-IN" sz="2000" dirty="0"/>
            </a:br>
            <a:r>
              <a:rPr lang="en-IN" sz="2000" dirty="0"/>
              <a:t>✓ Formatting visuals</a:t>
            </a:r>
            <a:br>
              <a:rPr lang="en-IN" sz="2000" dirty="0"/>
            </a:br>
            <a:r>
              <a:rPr lang="en-IN" sz="2000" dirty="0"/>
              <a:t>✓ Creating Functions</a:t>
            </a:r>
            <a:br>
              <a:rPr lang="en-IN" sz="2000" dirty="0"/>
            </a:br>
            <a:r>
              <a:rPr lang="en-IN" sz="2000" dirty="0"/>
              <a:t>✓ Navigations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398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815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BANK LOAN ANALYSIS </vt:lpstr>
      <vt:lpstr>PROBLEM STATEMENT DASHBOARD 1: SUMMARY Key Performance Indicators (KPIs) Requirements: </vt:lpstr>
      <vt:lpstr>PROBLEM STATEMENT DASHBOARD 1 : SUMMARY Good Loan v Bad Loan KPI’s</vt:lpstr>
      <vt:lpstr>PROBLEM STATEMENT DASHBOARD 2: OVERVIEW CHARTS </vt:lpstr>
      <vt:lpstr>PROBLEM STATEMENT DASHBOARD 3: DETAILS</vt:lpstr>
      <vt:lpstr>FUNCTIONALITIES WE WILL USE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Gupta</dc:creator>
  <cp:lastModifiedBy>Adarsh Gupta</cp:lastModifiedBy>
  <cp:revision>2</cp:revision>
  <dcterms:created xsi:type="dcterms:W3CDTF">2026-01-13T12:15:35Z</dcterms:created>
  <dcterms:modified xsi:type="dcterms:W3CDTF">2026-01-14T12:35:21Z</dcterms:modified>
</cp:coreProperties>
</file>